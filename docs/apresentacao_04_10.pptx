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embeddedFontLst>
    <p:embeddedFont>
      <p:font typeface="Inter"/>
      <p:bold r:id="rId12"/>
    </p:embeddedFont>
    <p:embeddedFont>
      <p:font typeface="Outfit"/>
      <p:bold r:id="rId1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87BF93B-D00E-4B81-9A72-800B1901551E}" v="2" dt="2026-10-04T17:57:59.7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5" d="100"/>
          <a:sy n="115" d="100"/>
        </p:scale>
        <p:origin x="70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nrique Kaio" userId="782b765c972f4be4" providerId="LiveId" clId="{11807D5B-E507-4E6F-99CD-D9B6AA51A2A6}"/>
    <pc:docChg chg="undo custSel modSld">
      <pc:chgData name="Henrique Kaio" userId="782b765c972f4be4" providerId="LiveId" clId="{11807D5B-E507-4E6F-99CD-D9B6AA51A2A6}" dt="2026-10-04T17:58:19.307" v="5" actId="478"/>
      <pc:docMkLst>
        <pc:docMk/>
      </pc:docMkLst>
      <pc:sldChg chg="delSp modSp mod">
        <pc:chgData name="Henrique Kaio" userId="782b765c972f4be4" providerId="LiveId" clId="{11807D5B-E507-4E6F-99CD-D9B6AA51A2A6}" dt="2026-10-04T17:58:19.307" v="5" actId="478"/>
        <pc:sldMkLst>
          <pc:docMk/>
          <pc:sldMk cId="0" sldId="262"/>
        </pc:sldMkLst>
        <pc:spChg chg="del mod">
          <ac:chgData name="Henrique Kaio" userId="782b765c972f4be4" providerId="LiveId" clId="{11807D5B-E507-4E6F-99CD-D9B6AA51A2A6}" dt="2026-10-04T17:58:19.307" v="5" actId="478"/>
          <ac:spMkLst>
            <pc:docMk/>
            <pc:sldMk cId="0" sldId="262"/>
            <ac:spMk id="1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1DF6C8-5F8B-42F7-B27E-F9C04D7C8736}" type="datetimeFigureOut">
              <a:rPr lang="pt-BR" smtClean="0"/>
              <a:t>04/10/2026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635C5C-10D0-4528-B8F7-30E76682145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33250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635C5C-10D0-4528-B8F7-30E76682145B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897220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43000" y="4588073"/>
            <a:ext cx="76200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43000" y="1355526"/>
            <a:ext cx="110490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59E0B"/>
                </a:solidFill>
                <a:latin typeface="Inter"/>
              </a:rPr>
              <a:t>PROJETO FINAL — LABORATÓRIO DE BANCO DE DADOS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1784151"/>
            <a:ext cx="9101137" cy="15085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5940"/>
              </a:lnSpc>
            </a:pPr>
            <a:r>
              <a:rPr sz="5400" b="1" i="0" u="none">
                <a:solidFill>
                  <a:srgbClr val="FFFFFF"/>
                </a:solidFill>
                <a:latin typeface="Outfit"/>
              </a:rPr>
              <a:t>Sistema de Controle de Vendas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3597473"/>
            <a:ext cx="110490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818CF8"/>
                </a:solidFill>
                <a:latin typeface="Outfit"/>
              </a:rPr>
              <a:t>Toy Storey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4930973"/>
            <a:ext cx="58102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Universidade Católica de Brasília</a:t>
            </a:r>
            <a:r>
              <a:t>
</a:t>
            </a:r>
            <a:r>
              <a:rPr sz="1500" b="0" i="0" u="none">
                <a:solidFill>
                  <a:srgbClr val="CBD5E1"/>
                </a:solidFill>
                <a:latin typeface="Inter"/>
              </a:rPr>
              <a:t> Equipe: José Antônio, Henrique Kaio, Gustavo Teixeira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812702"/>
            <a:ext cx="257175" cy="247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3679477"/>
            <a:ext cx="257175" cy="2476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4546252"/>
            <a:ext cx="257175" cy="247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1778347"/>
            <a:ext cx="6000750" cy="5485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sz="3600" b="1" i="0" u="none">
                <a:solidFill>
                  <a:srgbClr val="0F172A"/>
                </a:solidFill>
                <a:latin typeface="Outfit"/>
              </a:rPr>
              <a:t>O Projeto Toy Storey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1575" y="2784127"/>
            <a:ext cx="3950493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Outfit"/>
              </a:rPr>
              <a:t>Loja Fictícia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1575" y="3146077"/>
            <a:ext cx="37623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Inter"/>
              </a:rPr>
              <a:t>Gestão completa do ciclo de vendas.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1575" y="3650902"/>
            <a:ext cx="4663082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Outfit"/>
              </a:rPr>
              <a:t>Estoque Inteligente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1575" y="4012852"/>
            <a:ext cx="444103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Inter"/>
              </a:rPr>
              <a:t>Controle de categorias e kits promocionais.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1575" y="4517677"/>
            <a:ext cx="4225528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Outfit"/>
              </a:rPr>
              <a:t>Fidelização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1575" y="4879627"/>
            <a:ext cx="402431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Inter"/>
              </a:rPr>
              <a:t>Programa de recompensas por pontos.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3038475"/>
            <a:ext cx="3352800" cy="2247900"/>
          </a:xfrm>
          <a:prstGeom prst="roundRect">
            <a:avLst>
              <a:gd name="adj" fmla="val 677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419600" y="3038475"/>
            <a:ext cx="3352800" cy="2247900"/>
          </a:xfrm>
          <a:prstGeom prst="roundRect">
            <a:avLst>
              <a:gd name="adj" fmla="val 677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3038475"/>
            <a:ext cx="3352800" cy="2247900"/>
          </a:xfrm>
          <a:prstGeom prst="roundRect">
            <a:avLst>
              <a:gd name="adj" fmla="val 677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62000" y="3038475"/>
            <a:ext cx="3352800" cy="3810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419600" y="3038475"/>
            <a:ext cx="3352800" cy="38100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077200" y="3038475"/>
            <a:ext cx="335280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3457575"/>
            <a:ext cx="2590800" cy="3810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3457575"/>
            <a:ext cx="2590800" cy="3810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0" y="3457575"/>
            <a:ext cx="2590800" cy="381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2000" y="762000"/>
            <a:ext cx="11430000" cy="476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F172A"/>
                </a:solidFill>
                <a:latin typeface="Outfit"/>
              </a:rPr>
              <a:t>Regras de Negócio: Atores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1390650"/>
            <a:ext cx="114300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64748B"/>
                </a:solidFill>
                <a:latin typeface="Inter"/>
              </a:rPr>
              <a:t>Arquitetura baseada em generalização e especialização.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067175"/>
            <a:ext cx="3400425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Outfit"/>
              </a:rPr>
              <a:t>Pessoa 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505325"/>
            <a:ext cx="26860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Entidade supertipo ativa ou inativa.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4067175"/>
            <a:ext cx="3400425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Outfit"/>
              </a:rPr>
              <a:t>Clientes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4505325"/>
            <a:ext cx="26860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Acúmulo de pontos de fidelidade.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4067175"/>
            <a:ext cx="3400425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Outfit"/>
              </a:rPr>
              <a:t>Funcionários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4505325"/>
            <a:ext cx="26860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Acesso restrito por cargo hierárquico.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3424237"/>
            <a:ext cx="609600" cy="6096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600" y="3324225"/>
            <a:ext cx="609600" cy="6096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7200" y="3324225"/>
            <a:ext cx="609600" cy="6096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8212" y="3614737"/>
            <a:ext cx="257175" cy="2286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24387" y="3514725"/>
            <a:ext cx="200025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67700" y="3514725"/>
            <a:ext cx="228600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2000" y="762000"/>
            <a:ext cx="11430000" cy="476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F172A"/>
                </a:solidFill>
                <a:latin typeface="Outfit"/>
              </a:rPr>
              <a:t>Organização do Catálogo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1390650"/>
            <a:ext cx="114300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64748B"/>
                </a:solidFill>
                <a:latin typeface="Inter"/>
              </a:rPr>
              <a:t>Estrutura de produtos simples e composições complexas.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4262437"/>
            <a:ext cx="440055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Outfit"/>
              </a:rPr>
              <a:t>40 Categorias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4700587"/>
            <a:ext cx="41910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Classificação departamental completa.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19600" y="4162425"/>
            <a:ext cx="440055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Outfit"/>
              </a:rPr>
              <a:t>Controle de Estoque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19600" y="4600575"/>
            <a:ext cx="34480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Monitoramento de limites mínimos obrigatórios.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77200" y="4162425"/>
            <a:ext cx="411480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Outfit"/>
              </a:rPr>
              <a:t>Kits Promocionais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77200" y="4600575"/>
            <a:ext cx="34480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Autorrelacionamento entre produtos múltiplos.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-285750" y="2024062"/>
            <a:ext cx="12763500" cy="476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000" b="1" i="0" u="none">
                <a:solidFill>
                  <a:srgbClr val="0F172A"/>
                </a:solidFill>
                <a:latin typeface="Outfit"/>
              </a:rPr>
              <a:t>Ciclo Completo de Transação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3490912"/>
            <a:ext cx="85344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809750" y="326231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14850" y="326231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219950" y="326231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925050" y="326231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666875" y="3262312"/>
            <a:ext cx="74295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 u="none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58277" y="3948112"/>
            <a:ext cx="116014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Outfit"/>
              </a:rPr>
              <a:t>Abertura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6787" y="4262437"/>
            <a:ext cx="2143125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64748B"/>
                </a:solidFill>
                <a:latin typeface="Inter"/>
              </a:rPr>
              <a:t>Vínculo de funcionário e cliente.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71975" y="3262312"/>
            <a:ext cx="74295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 u="none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87080" y="3948112"/>
            <a:ext cx="1912739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Outfit"/>
              </a:rPr>
              <a:t>Registro de Itens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71887" y="4262437"/>
            <a:ext cx="2143125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64748B"/>
                </a:solidFill>
                <a:latin typeface="Inter"/>
              </a:rPr>
              <a:t>Congelamento de preço no ato.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77075" y="3262312"/>
            <a:ext cx="74295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 u="none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58463" y="3948112"/>
            <a:ext cx="1380172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Outfit"/>
              </a:rPr>
              <a:t>Pagamento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6987" y="4262437"/>
            <a:ext cx="2143125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64748B"/>
                </a:solidFill>
                <a:latin typeface="Inter"/>
              </a:rPr>
              <a:t>Múltiplas formas suportadas simultaneamente.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2175" y="3262312"/>
            <a:ext cx="74295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 u="none">
                <a:solidFill>
                  <a:srgbClr val="F8FAFC"/>
                </a:solidFill>
                <a:latin typeface="Inter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68564" y="3948112"/>
            <a:ext cx="1370171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Outfit"/>
              </a:rPr>
              <a:t>Devoluções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82087" y="4262437"/>
            <a:ext cx="2143125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64748B"/>
                </a:solidFill>
                <a:latin typeface="Inter"/>
              </a:rPr>
              <a:t>Registro estruturado de avarias.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264360" y="3245126"/>
            <a:ext cx="6288285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400" b="1" i="0" u="none" dirty="0">
                <a:solidFill>
                  <a:srgbClr val="FFFFFF"/>
                </a:solidFill>
                <a:latin typeface="Outfit"/>
              </a:rPr>
              <a:t>Modelo </a:t>
            </a:r>
            <a:r>
              <a:rPr sz="2400" b="1" i="0" u="none" dirty="0" err="1">
                <a:solidFill>
                  <a:srgbClr val="FFFFFF"/>
                </a:solidFill>
                <a:latin typeface="Outfit"/>
              </a:rPr>
              <a:t>Entidade</a:t>
            </a:r>
            <a:r>
              <a:rPr sz="2400" b="1" i="0" u="none" dirty="0">
                <a:solidFill>
                  <a:srgbClr val="FFFFFF"/>
                </a:solidFill>
                <a:latin typeface="Outfit"/>
              </a:rPr>
              <a:t>-Relacionamento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910" y="3612874"/>
            <a:ext cx="4929187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i="0" u="none" dirty="0" err="1">
                <a:solidFill>
                  <a:srgbClr val="94A3B8"/>
                </a:solidFill>
                <a:latin typeface="Inter"/>
              </a:rPr>
              <a:t>Visão</a:t>
            </a:r>
            <a:r>
              <a:rPr sz="1200" b="0" i="0" u="none" dirty="0">
                <a:solidFill>
                  <a:srgbClr val="94A3B8"/>
                </a:solidFill>
                <a:latin typeface="Inter"/>
              </a:rPr>
              <a:t> </a:t>
            </a:r>
            <a:r>
              <a:rPr sz="1200" b="0" i="0" u="none" dirty="0" err="1">
                <a:solidFill>
                  <a:srgbClr val="94A3B8"/>
                </a:solidFill>
                <a:latin typeface="Inter"/>
              </a:rPr>
              <a:t>estrutural</a:t>
            </a:r>
            <a:r>
              <a:rPr sz="1200" b="0" i="0" u="none" dirty="0">
                <a:solidFill>
                  <a:srgbClr val="94A3B8"/>
                </a:solidFill>
                <a:latin typeface="Inter"/>
              </a:rPr>
              <a:t> e </a:t>
            </a:r>
            <a:r>
              <a:rPr sz="1200" b="0" i="0" u="none" dirty="0" err="1">
                <a:solidFill>
                  <a:srgbClr val="94A3B8"/>
                </a:solidFill>
                <a:latin typeface="Inter"/>
              </a:rPr>
              <a:t>mapeamento</a:t>
            </a:r>
            <a:r>
              <a:rPr sz="1200" b="0" i="0" u="none" dirty="0">
                <a:solidFill>
                  <a:srgbClr val="94A3B8"/>
                </a:solidFill>
                <a:latin typeface="Inter"/>
              </a:rPr>
              <a:t> das </a:t>
            </a:r>
            <a:r>
              <a:rPr sz="1200" b="0" i="0" u="none" dirty="0" err="1">
                <a:solidFill>
                  <a:srgbClr val="94A3B8"/>
                </a:solidFill>
                <a:latin typeface="Inter"/>
              </a:rPr>
              <a:t>regras</a:t>
            </a:r>
            <a:r>
              <a:rPr sz="1200" b="0" i="0" u="none" dirty="0">
                <a:solidFill>
                  <a:srgbClr val="94A3B8"/>
                </a:solidFill>
                <a:latin typeface="Inter"/>
              </a:rPr>
              <a:t> de </a:t>
            </a:r>
            <a:r>
              <a:rPr sz="1200" b="0" i="0" u="none" dirty="0" err="1">
                <a:solidFill>
                  <a:srgbClr val="94A3B8"/>
                </a:solidFill>
                <a:latin typeface="Inter"/>
              </a:rPr>
              <a:t>negócio</a:t>
            </a:r>
            <a:r>
              <a:rPr sz="1200" b="0" i="0" u="none" dirty="0">
                <a:solidFill>
                  <a:srgbClr val="94A3B8"/>
                </a:solidFill>
                <a:latin typeface="Inter"/>
              </a:rPr>
              <a:t>.</a:t>
            </a:r>
          </a:p>
        </p:txBody>
      </p:sp>
      <p:pic>
        <p:nvPicPr>
          <p:cNvPr id="119" name="Imagem 118">
            <a:extLst>
              <a:ext uri="{FF2B5EF4-FFF2-40B4-BE49-F238E27FC236}">
                <a16:creationId xmlns:a16="http://schemas.microsoft.com/office/drawing/2014/main" id="{C642264D-B1AA-1A9C-FBDB-F3E756B673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94391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86475" y="0"/>
            <a:ext cx="9525" cy="6858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553200" y="1783407"/>
            <a:ext cx="5181600" cy="3291185"/>
          </a:xfrm>
          <a:prstGeom prst="roundRect">
            <a:avLst>
              <a:gd name="adj" fmla="val 3472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3300412"/>
            <a:ext cx="171450" cy="2000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3757612"/>
            <a:ext cx="171450" cy="2000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4214812"/>
            <a:ext cx="171450" cy="2000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4672012"/>
            <a:ext cx="171450" cy="2000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62000" y="1971675"/>
            <a:ext cx="5988248" cy="476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F172A"/>
                </a:solidFill>
                <a:latin typeface="Outfit"/>
              </a:rPr>
              <a:t>Arquitetura DDL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2600325"/>
            <a:ext cx="5703093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64748B"/>
                </a:solidFill>
                <a:latin typeface="Inter"/>
              </a:rPr>
              <a:t>Integridade e consistência garantidas pelo SGBD.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2088207"/>
            <a:ext cx="4667250" cy="26815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C678DD"/>
                </a:solidFill>
                <a:latin typeface="Inter"/>
              </a:rPr>
              <a:t>CREATE TABLE</a:t>
            </a:r>
            <a:r>
              <a:rPr sz="1200" b="0" i="0" u="none">
                <a:solidFill>
                  <a:srgbClr val="E2E8F0"/>
                </a:solidFill>
                <a:latin typeface="Inter"/>
              </a:rPr>
              <a:t> produto ( id_produto </a:t>
            </a:r>
            <a:r>
              <a:rPr sz="1200" b="0" i="0" u="none">
                <a:solidFill>
                  <a:srgbClr val="D19A66"/>
                </a:solidFill>
                <a:latin typeface="Inter"/>
              </a:rPr>
              <a:t>INT AUTO_INCREMENT</a:t>
            </a:r>
            <a:r>
              <a:rPr sz="1200" b="0" i="0" u="none">
                <a:solidFill>
                  <a:srgbClr val="E2E8F0"/>
                </a:solidFill>
                <a:latin typeface="Inter"/>
              </a:rPr>
              <a:t>, id_categoria </a:t>
            </a:r>
            <a:r>
              <a:rPr sz="1200" b="0" i="0" u="none">
                <a:solidFill>
                  <a:srgbClr val="D19A66"/>
                </a:solidFill>
                <a:latin typeface="Inter"/>
              </a:rPr>
              <a:t>INT NOT NULL</a:t>
            </a:r>
            <a:r>
              <a:rPr sz="1200" b="0" i="0" u="none">
                <a:solidFill>
                  <a:srgbClr val="E2E8F0"/>
                </a:solidFill>
                <a:latin typeface="Inter"/>
              </a:rPr>
              <a:t>, nome </a:t>
            </a:r>
            <a:r>
              <a:rPr sz="1200" b="0" i="0" u="none">
                <a:solidFill>
                  <a:srgbClr val="98C379"/>
                </a:solidFill>
                <a:latin typeface="Inter"/>
              </a:rPr>
              <a:t>VARCHAR(150) NOT NULL</a:t>
            </a:r>
            <a:r>
              <a:rPr sz="1200" b="0" i="0" u="none">
                <a:solidFill>
                  <a:srgbClr val="E2E8F0"/>
                </a:solidFill>
                <a:latin typeface="Inter"/>
              </a:rPr>
              <a:t>, preco_venda </a:t>
            </a:r>
            <a:r>
              <a:rPr sz="1200" b="0" i="0" u="none">
                <a:solidFill>
                  <a:srgbClr val="D19A66"/>
                </a:solidFill>
                <a:latin typeface="Inter"/>
              </a:rPr>
              <a:t>DECIMAL(5,2) NOT NULL</a:t>
            </a:r>
            <a:r>
              <a:rPr sz="1200" b="0" i="0" u="none">
                <a:solidFill>
                  <a:srgbClr val="E2E8F0"/>
                </a:solidFill>
                <a:latin typeface="Inter"/>
              </a:rPr>
              <a:t>, </a:t>
            </a:r>
            <a:r>
              <a:rPr sz="1200" b="0" i="0" u="none">
                <a:solidFill>
                  <a:srgbClr val="C678DD"/>
                </a:solidFill>
                <a:latin typeface="Inter"/>
              </a:rPr>
              <a:t>CONSTRAINT</a:t>
            </a:r>
            <a:r>
              <a:rPr sz="1200" b="0" i="0" u="none">
                <a:solidFill>
                  <a:srgbClr val="E2E8F0"/>
                </a:solidFill>
                <a:latin typeface="Inter"/>
              </a:rPr>
              <a:t> pk_produto </a:t>
            </a:r>
            <a:r>
              <a:rPr sz="1200" b="0" i="0" u="none">
                <a:solidFill>
                  <a:srgbClr val="C678DD"/>
                </a:solidFill>
                <a:latin typeface="Inter"/>
              </a:rPr>
              <a:t>PRIMARY KEY</a:t>
            </a:r>
            <a:r>
              <a:rPr sz="1200" b="0" i="0" u="none">
                <a:solidFill>
                  <a:srgbClr val="E2E8F0"/>
                </a:solidFill>
                <a:latin typeface="Inter"/>
              </a:rPr>
              <a:t> (id_produto), </a:t>
            </a:r>
            <a:r>
              <a:rPr sz="1200" b="0" i="0" u="none">
                <a:solidFill>
                  <a:srgbClr val="C678DD"/>
                </a:solidFill>
                <a:latin typeface="Inter"/>
              </a:rPr>
              <a:t>CONSTRAINT</a:t>
            </a:r>
            <a:r>
              <a:rPr sz="1200" b="0" i="0" u="none">
                <a:solidFill>
                  <a:srgbClr val="E2E8F0"/>
                </a:solidFill>
                <a:latin typeface="Inter"/>
              </a:rPr>
              <a:t> ck_produto_precos </a:t>
            </a:r>
            <a:r>
              <a:rPr sz="1200" b="0" i="0" u="none">
                <a:solidFill>
                  <a:srgbClr val="C678DD"/>
                </a:solidFill>
                <a:latin typeface="Inter"/>
              </a:rPr>
              <a:t>CHECK</a:t>
            </a:r>
            <a:r>
              <a:rPr sz="1200" b="0" i="0" u="none">
                <a:solidFill>
                  <a:srgbClr val="E2E8F0"/>
                </a:solidFill>
                <a:latin typeface="Inter"/>
              </a:rPr>
              <a:t> (preco_venda &gt; preco_custo) );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5850" y="3286125"/>
            <a:ext cx="5379243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500" b="0" i="0" u="none">
                <a:solidFill>
                  <a:srgbClr val="0F172A"/>
                </a:solidFill>
                <a:latin typeface="Inter"/>
              </a:rPr>
              <a:t>Restrições de domínio rigorosas.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5850" y="3743325"/>
            <a:ext cx="5379243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500" b="0" i="0" u="none">
                <a:solidFill>
                  <a:srgbClr val="0F172A"/>
                </a:solidFill>
                <a:latin typeface="Inter"/>
              </a:rPr>
              <a:t>Integridade referencial mapeada.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5850" y="4200525"/>
            <a:ext cx="5379243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500" b="0" i="0" u="none">
                <a:solidFill>
                  <a:srgbClr val="0F172A"/>
                </a:solidFill>
                <a:latin typeface="Inter"/>
              </a:rPr>
              <a:t>Deleção em cascata configurada.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5850" y="4657725"/>
            <a:ext cx="5379243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500" b="0" i="0" u="none">
                <a:solidFill>
                  <a:srgbClr val="0F172A"/>
                </a:solidFill>
                <a:latin typeface="Inter"/>
              </a:rPr>
              <a:t>Índices otimizados para consultas.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3448050"/>
            <a:ext cx="3352800" cy="1362075"/>
          </a:xfrm>
          <a:prstGeom prst="roundRect">
            <a:avLst>
              <a:gd name="adj" fmla="val 839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419600" y="3448050"/>
            <a:ext cx="3352800" cy="1362075"/>
          </a:xfrm>
          <a:prstGeom prst="roundRect">
            <a:avLst>
              <a:gd name="adj" fmla="val 839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3448050"/>
            <a:ext cx="3352800" cy="1362075"/>
          </a:xfrm>
          <a:prstGeom prst="roundRect">
            <a:avLst>
              <a:gd name="adj" fmla="val 839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-285750" y="762000"/>
            <a:ext cx="12763500" cy="476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000" b="1" i="0" u="none">
                <a:solidFill>
                  <a:srgbClr val="0F172A"/>
                </a:solidFill>
                <a:latin typeface="Outfit"/>
              </a:rPr>
              <a:t>Inteligência de Negócio (DQL)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90975" y="1695450"/>
            <a:ext cx="1476375" cy="1143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9000"/>
              </a:lnSpc>
            </a:pPr>
            <a:r>
              <a:rPr sz="9000" b="1" i="0" u="none">
                <a:solidFill>
                  <a:srgbClr val="4338CA"/>
                </a:solidFill>
                <a:latin typeface="Inter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675" y="2000250"/>
            <a:ext cx="3675459" cy="3333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Outfit"/>
              </a:rPr>
              <a:t>Consultas Estratégicas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675" y="2333625"/>
            <a:ext cx="350043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Inter"/>
              </a:rPr>
              <a:t>Para suporte à decisão gerencial.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6800" y="3752850"/>
            <a:ext cx="3600450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Outfit"/>
              </a:rPr>
              <a:t>Gestão de Estoque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6800" y="4105275"/>
            <a:ext cx="28384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Identificação automática de produtos abaixo do mínimo.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24400" y="3752850"/>
            <a:ext cx="3600450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Outfit"/>
              </a:rPr>
              <a:t>Desempenho de Vendas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24400" y="4105275"/>
            <a:ext cx="28384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Mapeamento de funcionários com maior conversão.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0" y="3752850"/>
            <a:ext cx="3600450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Outfit"/>
              </a:rPr>
              <a:t>Perfil de Consumo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0" y="4105275"/>
            <a:ext cx="28384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Filtragem de clientes com gasto acima da média.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91200" y="3576637"/>
            <a:ext cx="609600" cy="190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208264" y="1690687"/>
            <a:ext cx="3775471" cy="7715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4800" b="1" i="0" u="none">
                <a:solidFill>
                  <a:srgbClr val="FFFFFF"/>
                </a:solidFill>
                <a:latin typeface="Outfit"/>
              </a:rPr>
              <a:t>Obrigado!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57750" y="2690812"/>
            <a:ext cx="2476500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0" i="0" u="none">
                <a:solidFill>
                  <a:srgbClr val="818CF8"/>
                </a:solidFill>
                <a:latin typeface="Inter"/>
              </a:rPr>
              <a:t>Etapa 1 Concluída.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2203" y="4205287"/>
            <a:ext cx="360759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CBD5E1"/>
                </a:solidFill>
                <a:latin typeface="Inter"/>
              </a:rPr>
              <a:t>EQUIPE DE DESENVOLVIMENTO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10062" y="4481512"/>
            <a:ext cx="357187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FFFFFF"/>
                </a:solidFill>
                <a:latin typeface="Inter"/>
              </a:rPr>
              <a:t>José Antônio Rodrigues Tozetti</a:t>
            </a:r>
            <a:r>
              <a:t>
</a:t>
            </a:r>
            <a:r>
              <a:rPr sz="1500" b="1" i="0" u="none">
                <a:solidFill>
                  <a:srgbClr val="FFFFFF"/>
                </a:solidFill>
                <a:latin typeface="Inter"/>
              </a:rPr>
              <a:t> Henrique Kaio Ferreira da Silva</a:t>
            </a:r>
            <a:r>
              <a:t>
</a:t>
            </a:r>
            <a:r>
              <a:rPr sz="1500" b="1" i="0" u="none">
                <a:solidFill>
                  <a:srgbClr val="FFFFFF"/>
                </a:solidFill>
                <a:latin typeface="Inter"/>
              </a:rPr>
              <a:t> Gustavo Teixeira de Sousa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342</Words>
  <Application>Microsoft Office PowerPoint</Application>
  <PresentationFormat>Widescreen</PresentationFormat>
  <Paragraphs>64</Paragraphs>
  <Slides>9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5" baseType="lpstr">
      <vt:lpstr>Aptos</vt:lpstr>
      <vt:lpstr>Outfit</vt:lpstr>
      <vt:lpstr>Inter</vt:lpstr>
      <vt:lpstr>Calibri</vt:lpstr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Henrique Kaio</dc:creator>
  <cp:keywords/>
  <dc:description>generated using python-pptx</dc:description>
  <cp:lastModifiedBy>Henrique Kaio</cp:lastModifiedBy>
  <cp:revision>2</cp:revision>
  <dcterms:created xsi:type="dcterms:W3CDTF">2013-01-27T09:14:16Z</dcterms:created>
  <dcterms:modified xsi:type="dcterms:W3CDTF">2026-10-04T17:58:29Z</dcterms:modified>
  <cp:category/>
</cp:coreProperties>
</file>